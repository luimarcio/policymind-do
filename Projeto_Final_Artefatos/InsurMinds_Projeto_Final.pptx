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f4bd5380-cb3f-f3af-0d9f-55c932e4fd0c}">
          <p14:sldIdLst>
            <p14:sldId id="256"/>
          </p14:sldIdLst>
        </p14:section>
        <p14:section name="Problema e solução" id="{27bf8ef5-2f35-da7b-04ae-2a41f639588d}">
          <p14:sldIdLst>
            <p14:sldId id="257"/>
            <p14:sldId id="258"/>
          </p14:sldIdLst>
        </p14:section>
        <p14:section name="Como funciona" id="{421bfb21-9c3b-3aea-4fb5-fc8dd23a6152}">
          <p14:sldIdLst>
            <p14:sldId id="259"/>
            <p14:sldId id="260"/>
          </p14:sldIdLst>
        </p14:section>
        <p14:section name="Resultados" id="{bda21d94-f134-0986-2f01-d40071fc6e31}">
          <p14:sldIdLst>
            <p14:sldId id="261"/>
            <p14:sldId id="262"/>
            <p14:sldId id="263"/>
            <p14:sldId id="264"/>
            <p14:sldId id="265"/>
          </p14:sldIdLst>
        </p14:section>
        <p14:section name="Próximos passos" id="{cf401477-1f73-e491-1119-b0d8863683f1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</a:rPr>
              <a:t>Tempo por agente (segundos)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Tempo (s)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DocumentAgent</c:v>
                  </c:pt>
                  <c:pt idx="1">
                    <c:v>PolicyExtraction (IA)</c:v>
                  </c:pt>
                  <c:pt idx="2">
                    <c:v>Normalization</c:v>
                  </c:pt>
                  <c:pt idx="3">
                    <c:v>Comparison</c:v>
                  </c:pt>
                  <c:pt idx="4">
                    <c:v>Analysis (IA)*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</c:v>
                </c:pt>
                <c:pt idx="1">
                  <c:v>8.5</c:v>
                </c:pt>
                <c:pt idx="2">
                  <c:v>0</c:v>
                </c:pt>
                <c:pt idx="3">
                  <c:v>0</c:v>
                </c:pt>
                <c:pt idx="4">
                  <c:v>15.3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apresentar o grupo e o PolicyMind D&amp;O, uma plataforma que lê, estrutura e compara apólices D&amp;O usando IA generativa.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problema: apólices D&amp;O são longas e cada seguradora usa termos próprios. Comparar uma renovação com a apólice anterior consome horas de um especialista e está sujeito a erros.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solução: o usuário envia duas apólices; a IA extrai os dados com evidência; o sistema compara de forma determinística; e a IA escreve a síntese. O princípio central é nunca inventar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agentes especializados, cada um com uma responsabilidade, coordenados por um orquestrador. A IA generativa entra onde agrega valor: entender documentos diferentes e escrever a análise. Leitura, normalização e comparação são determinísticas, para serem exatas e testáveis. Não usamos LangChain nem CrewAI: o fluxo é explícito e fácil de explicar.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diferencial do projeto é a honestidade da IA: evidência obrigatória com página e trecho, campos ausentes ficam nulos, a comparação não inventa diferenças, e a interface nunca apresenta resultado sem IA como se fosse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caso real, a ferramenta mostra objetivamente a queda de 48,8% no prêmio. Também identifica o que só aparece na AXA. E, com o mesmo rigor, avisa que não dá para concluir sobre coberturas, porque o documento da Tokio Marine está incompleto.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a aplicação rodando: cada agente mostra status e tempo. Na comparação, cada linha tem o status (igual, alterado, adicionado, removido ou sem base de comparação) e a fonte no documento.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síntese é escrita pela IA. Os ganhos listados são só as reduções de prêmio e IOF, que existem nas duas apólices. O LMG e a franquia aparecem como informação que falta na apólice A, e não como ganho. A ressalva acadêmica é sempre incluída pelo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validação com o Groq, modelo gpt-oss-120b, os cinco agentes concluíram com sucesso, em menos de 30 segundos no total. Temos 33 testes automatizados cobrindo cada agente e o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Testar com um provedor real mostrou quatro problemas, todos corrigidos. Os mais importantes: o limite de tokens do plano gratuito e a IA classificando como ganho um dado que não existia na outra apólice.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Limitações conhecidas e próximos passos. A principal evolução seria ligar cada apólice às suas Condições Gerais via RAG e permitir perguntas em linguagem natural com citação da página.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Encerramento: agradecer, reforçar que o código está no GitHub com README e relatório técnico, e lembrar que é um projeto acadêmico.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Título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Subtítulo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Título</a:t>
            </a: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PolicyMind D&amp;O · InsurMinds/I2A2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PolicyMind D&amp;O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Comparador Inteligente de Apólices D&amp;O com arquitetura multiagente e IA generativa</a:t>
            </a:r>
            <a:endParaRPr lang="en-US" sz="18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17"/>
                </a:solidFill>
              </a:rPr>
              <a:t>Projeto Final · InsurMinds / I2A2 · Outubro de 2026</a:t>
            </a:r>
            <a:endParaRPr lang="en-US" sz="1300" dirty="0"/>
          </a:p>
        </p:txBody>
      </p:sp>
      <p:sp>
        <p:nvSpPr>
          <p:cNvPr id="5" name="team"/>
          <p:cNvSpPr txBox="1"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Márcio de la Cruz Lui  ·  Mauro José de Oliveira  ·  Pedro Antônio Franceschini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Comparar apólices D&amp;O ainda é manual e lento</a:t>
            </a:r>
            <a:endParaRPr lang="en-US" sz="2600" dirty="0"/>
          </a:p>
        </p:txBody>
      </p:sp>
      <p:sp>
        <p:nvSpPr>
          <p:cNvPr id="3" name="prob-card-0"/>
          <p:cNvSpPr/>
          <p:nvPr/>
        </p:nvSpPr>
        <p:spPr>
          <a:xfrm>
            <a:off x="457200" y="12344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4" name="prob-0-circle"/>
          <p:cNvSpPr/>
          <p:nvPr/>
        </p:nvSpPr>
        <p:spPr>
          <a:xfrm>
            <a:off x="731520" y="1463040"/>
            <a:ext cx="685800" cy="68580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pic>
        <p:nvPicPr>
          <p:cNvPr id="5" name="prob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1634490"/>
            <a:ext cx="342900" cy="342900"/>
          </a:xfrm>
          <a:prstGeom prst="rect">
            <a:avLst/>
          </a:prstGeom>
        </p:spPr>
      </p:pic>
      <p:sp>
        <p:nvSpPr>
          <p:cNvPr id="6" name="prob-h-0"/>
          <p:cNvSpPr txBox="1"/>
          <p:nvPr/>
        </p:nvSpPr>
        <p:spPr>
          <a:xfrm>
            <a:off x="731520" y="2331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 a 104 páginas</a:t>
            </a:r>
            <a:endParaRPr lang="en-US" sz="1900" dirty="0"/>
          </a:p>
        </p:txBody>
      </p:sp>
      <p:sp>
        <p:nvSpPr>
          <p:cNvPr id="7" name="prob-t-0"/>
          <p:cNvSpPr txBox="1"/>
          <p:nvPr/>
        </p:nvSpPr>
        <p:spPr>
          <a:xfrm>
            <a:off x="731520" y="283464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Condições Gerais longas, em linguagem jurídica, com estrutura diferente em cada seguradora</a:t>
            </a:r>
            <a:endParaRPr lang="en-US" sz="1400" dirty="0"/>
          </a:p>
        </p:txBody>
      </p:sp>
      <p:sp>
        <p:nvSpPr>
          <p:cNvPr id="8" name="prob-card-1"/>
          <p:cNvSpPr/>
          <p:nvPr/>
        </p:nvSpPr>
        <p:spPr>
          <a:xfrm>
            <a:off x="3246120" y="12344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9" name="prob-1-circle"/>
          <p:cNvSpPr/>
          <p:nvPr/>
        </p:nvSpPr>
        <p:spPr>
          <a:xfrm>
            <a:off x="3520440" y="1463040"/>
            <a:ext cx="685800" cy="68580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pic>
        <p:nvPicPr>
          <p:cNvPr id="10" name="prob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890" y="1634490"/>
            <a:ext cx="342900" cy="342900"/>
          </a:xfrm>
          <a:prstGeom prst="rect">
            <a:avLst/>
          </a:prstGeom>
        </p:spPr>
      </p:pic>
      <p:sp>
        <p:nvSpPr>
          <p:cNvPr id="11" name="prob-h-1"/>
          <p:cNvSpPr txBox="1"/>
          <p:nvPr/>
        </p:nvSpPr>
        <p:spPr>
          <a:xfrm>
            <a:off x="3520440" y="2331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Termos diferentes</a:t>
            </a:r>
            <a:endParaRPr lang="en-US" sz="1900" dirty="0"/>
          </a:p>
        </p:txBody>
      </p:sp>
      <p:sp>
        <p:nvSpPr>
          <p:cNvPr id="12" name="prob-t-1"/>
          <p:cNvSpPr txBox="1"/>
          <p:nvPr/>
        </p:nvSpPr>
        <p:spPr>
          <a:xfrm>
            <a:off x="3520440" y="283464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"Penhora on-line" numa, "bloqueio de conta" na outra: o mesmo conceito com nomes distintos</a:t>
            </a:r>
            <a:endParaRPr lang="en-US" sz="1400" dirty="0"/>
          </a:p>
        </p:txBody>
      </p:sp>
      <p:sp>
        <p:nvSpPr>
          <p:cNvPr id="13" name="prob-card-2"/>
          <p:cNvSpPr/>
          <p:nvPr/>
        </p:nvSpPr>
        <p:spPr>
          <a:xfrm>
            <a:off x="6035040" y="12344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4" name="prob-2-circle"/>
          <p:cNvSpPr/>
          <p:nvPr/>
        </p:nvSpPr>
        <p:spPr>
          <a:xfrm>
            <a:off x="6309360" y="1463040"/>
            <a:ext cx="685800" cy="68580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pic>
        <p:nvPicPr>
          <p:cNvPr id="15" name="prob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1634490"/>
            <a:ext cx="342900" cy="342900"/>
          </a:xfrm>
          <a:prstGeom prst="rect">
            <a:avLst/>
          </a:prstGeom>
        </p:spPr>
      </p:pic>
      <p:sp>
        <p:nvSpPr>
          <p:cNvPr id="16" name="prob-h-2"/>
          <p:cNvSpPr txBox="1"/>
          <p:nvPr/>
        </p:nvSpPr>
        <p:spPr>
          <a:xfrm>
            <a:off x="6309360" y="2331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Horas de análise</a:t>
            </a:r>
            <a:endParaRPr lang="en-US" sz="1900" dirty="0"/>
          </a:p>
        </p:txBody>
      </p:sp>
      <p:sp>
        <p:nvSpPr>
          <p:cNvPr id="17" name="prob-t-2"/>
          <p:cNvSpPr txBox="1"/>
          <p:nvPr/>
        </p:nvSpPr>
        <p:spPr>
          <a:xfrm>
            <a:off x="6309360" y="283464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Alinhar prêmios, limites, franquias, coberturas e exclusões exige leitura cruzada linha a linha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Do PDF à análise executiva em menos de 1 minuto</a:t>
            </a:r>
            <a:endParaRPr lang="en-US" sz="2600" dirty="0"/>
          </a:p>
        </p:txBody>
      </p:sp>
      <p:sp>
        <p:nvSpPr>
          <p:cNvPr id="3" name="step-0-circle"/>
          <p:cNvSpPr/>
          <p:nvPr/>
        </p:nvSpPr>
        <p:spPr>
          <a:xfrm>
            <a:off x="1005840" y="1325880"/>
            <a:ext cx="822960" cy="8229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4" name="step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1531620"/>
            <a:ext cx="411480" cy="411480"/>
          </a:xfrm>
          <a:prstGeom prst="rect">
            <a:avLst/>
          </a:prstGeom>
        </p:spPr>
      </p:pic>
      <p:sp>
        <p:nvSpPr>
          <p:cNvPr id="5" name="arrow-0"/>
          <p:cNvSpPr/>
          <p:nvPr/>
        </p:nvSpPr>
        <p:spPr>
          <a:xfrm>
            <a:off x="1920240" y="1737360"/>
            <a:ext cx="1097280" cy="0"/>
          </a:xfrm>
          <a:prstGeom prst="line">
            <a:avLst/>
          </a:prstGeom>
          <a:noFill/>
          <a:ln w="19050">
            <a:solidFill>
              <a:srgbClr val="5C6B80"/>
            </a:solidFill>
            <a:prstDash val="solid"/>
            <a:tailEnd type="triangle"/>
          </a:ln>
        </p:spPr>
      </p:sp>
      <p:sp>
        <p:nvSpPr>
          <p:cNvPr id="6" name="step-h-0"/>
          <p:cNvSpPr txBox="1"/>
          <p:nvPr/>
        </p:nvSpPr>
        <p:spPr>
          <a:xfrm>
            <a:off x="457200" y="2331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Envia</a:t>
            </a:r>
            <a:endParaRPr lang="en-US" sz="2000" dirty="0"/>
          </a:p>
        </p:txBody>
      </p:sp>
      <p:sp>
        <p:nvSpPr>
          <p:cNvPr id="7" name="step-t-0"/>
          <p:cNvSpPr txBox="1"/>
          <p:nvPr/>
        </p:nvSpPr>
        <p:spPr>
          <a:xfrm>
            <a:off x="457200" y="27432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Duas apólices em PDF ou imagem</a:t>
            </a:r>
            <a:endParaRPr lang="en-US" sz="1400" dirty="0"/>
          </a:p>
        </p:txBody>
      </p:sp>
      <p:sp>
        <p:nvSpPr>
          <p:cNvPr id="8" name="step-1-circle"/>
          <p:cNvSpPr/>
          <p:nvPr/>
        </p:nvSpPr>
        <p:spPr>
          <a:xfrm>
            <a:off x="3108960" y="1325880"/>
            <a:ext cx="822960" cy="8229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9" name="step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00" y="1531620"/>
            <a:ext cx="411480" cy="411480"/>
          </a:xfrm>
          <a:prstGeom prst="rect">
            <a:avLst/>
          </a:prstGeom>
        </p:spPr>
      </p:pic>
      <p:sp>
        <p:nvSpPr>
          <p:cNvPr id="10" name="arrow-1"/>
          <p:cNvSpPr/>
          <p:nvPr/>
        </p:nvSpPr>
        <p:spPr>
          <a:xfrm>
            <a:off x="4023360" y="1737360"/>
            <a:ext cx="1097280" cy="0"/>
          </a:xfrm>
          <a:prstGeom prst="line">
            <a:avLst/>
          </a:prstGeom>
          <a:noFill/>
          <a:ln w="19050">
            <a:solidFill>
              <a:srgbClr val="5C6B80"/>
            </a:solidFill>
            <a:prstDash val="solid"/>
            <a:tailEnd type="triangle"/>
          </a:ln>
        </p:spPr>
      </p:sp>
      <p:sp>
        <p:nvSpPr>
          <p:cNvPr id="11" name="step-h-1"/>
          <p:cNvSpPr txBox="1"/>
          <p:nvPr/>
        </p:nvSpPr>
        <p:spPr>
          <a:xfrm>
            <a:off x="2560320" y="2331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Extrai</a:t>
            </a:r>
            <a:endParaRPr lang="en-US" sz="2000" dirty="0"/>
          </a:p>
        </p:txBody>
      </p:sp>
      <p:sp>
        <p:nvSpPr>
          <p:cNvPr id="12" name="step-t-1"/>
          <p:cNvSpPr txBox="1"/>
          <p:nvPr/>
        </p:nvSpPr>
        <p:spPr>
          <a:xfrm>
            <a:off x="2560320" y="27432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IA gera um JSON padronizado, com página e trecho de cada dado</a:t>
            </a:r>
            <a:endParaRPr lang="en-US" sz="1400" dirty="0"/>
          </a:p>
        </p:txBody>
      </p:sp>
      <p:sp>
        <p:nvSpPr>
          <p:cNvPr id="13" name="step-2-circle"/>
          <p:cNvSpPr/>
          <p:nvPr/>
        </p:nvSpPr>
        <p:spPr>
          <a:xfrm>
            <a:off x="5212080" y="1325880"/>
            <a:ext cx="822960" cy="8229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4" name="step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820" y="1531620"/>
            <a:ext cx="411480" cy="411480"/>
          </a:xfrm>
          <a:prstGeom prst="rect">
            <a:avLst/>
          </a:prstGeom>
        </p:spPr>
      </p:pic>
      <p:sp>
        <p:nvSpPr>
          <p:cNvPr id="15" name="arrow-2"/>
          <p:cNvSpPr/>
          <p:nvPr/>
        </p:nvSpPr>
        <p:spPr>
          <a:xfrm>
            <a:off x="6126480" y="1737360"/>
            <a:ext cx="1097280" cy="0"/>
          </a:xfrm>
          <a:prstGeom prst="line">
            <a:avLst/>
          </a:prstGeom>
          <a:noFill/>
          <a:ln w="19050">
            <a:solidFill>
              <a:srgbClr val="5C6B80"/>
            </a:solidFill>
            <a:prstDash val="solid"/>
            <a:tailEnd type="triangle"/>
          </a:ln>
        </p:spPr>
      </p:sp>
      <p:sp>
        <p:nvSpPr>
          <p:cNvPr id="16" name="step-h-2"/>
          <p:cNvSpPr txBox="1"/>
          <p:nvPr/>
        </p:nvSpPr>
        <p:spPr>
          <a:xfrm>
            <a:off x="4663440" y="2331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Compara</a:t>
            </a:r>
            <a:endParaRPr lang="en-US" sz="2000" dirty="0"/>
          </a:p>
        </p:txBody>
      </p:sp>
      <p:sp>
        <p:nvSpPr>
          <p:cNvPr id="17" name="step-t-2"/>
          <p:cNvSpPr txBox="1"/>
          <p:nvPr/>
        </p:nvSpPr>
        <p:spPr>
          <a:xfrm>
            <a:off x="4663440" y="27432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Campo a campo e item a item, de forma determinística</a:t>
            </a:r>
            <a:endParaRPr lang="en-US" sz="1400" dirty="0"/>
          </a:p>
        </p:txBody>
      </p:sp>
      <p:sp>
        <p:nvSpPr>
          <p:cNvPr id="18" name="step-3-circle"/>
          <p:cNvSpPr/>
          <p:nvPr/>
        </p:nvSpPr>
        <p:spPr>
          <a:xfrm>
            <a:off x="7315200" y="1325880"/>
            <a:ext cx="822960" cy="8229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19" name="step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0940" y="1531620"/>
            <a:ext cx="411480" cy="411480"/>
          </a:xfrm>
          <a:prstGeom prst="rect">
            <a:avLst/>
          </a:prstGeom>
        </p:spPr>
      </p:pic>
      <p:sp>
        <p:nvSpPr>
          <p:cNvPr id="20" name="step-h-3"/>
          <p:cNvSpPr txBox="1"/>
          <p:nvPr/>
        </p:nvSpPr>
        <p:spPr>
          <a:xfrm>
            <a:off x="6766560" y="2331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Explica</a:t>
            </a:r>
            <a:endParaRPr lang="en-US" sz="2000" dirty="0"/>
          </a:p>
        </p:txBody>
      </p:sp>
      <p:sp>
        <p:nvSpPr>
          <p:cNvPr id="21" name="step-t-3"/>
          <p:cNvSpPr txBox="1"/>
          <p:nvPr/>
        </p:nvSpPr>
        <p:spPr>
          <a:xfrm>
            <a:off x="6766560" y="27432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Síntese com ganhos, perdas e pontos de atenção</a:t>
            </a:r>
            <a:endParaRPr lang="en-US" sz="1400" dirty="0"/>
          </a:p>
        </p:txBody>
      </p:sp>
      <p:sp>
        <p:nvSpPr>
          <p:cNvPr id="22" name="promise"/>
          <p:cNvSpPr/>
          <p:nvPr/>
        </p:nvSpPr>
        <p:spPr>
          <a:xfrm>
            <a:off x="457200" y="38862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3" name="promise-text"/>
          <p:cNvSpPr txBox="1"/>
          <p:nvPr/>
        </p:nvSpPr>
        <p:spPr>
          <a:xfrm>
            <a:off x="685800" y="38862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553D"/>
                </a:solidFill>
              </a:rPr>
              <a:t>Princípio: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na dúvida, o sistema declara a ausência do dado em vez de concluir. Nada é inventado.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Arquitetura multiagente com orquestrador</a:t>
            </a:r>
            <a:endParaRPr lang="en-US" sz="2600" dirty="0"/>
          </a:p>
        </p:txBody>
      </p:sp>
      <p:sp>
        <p:nvSpPr>
          <p:cNvPr id="3" name="orch"/>
          <p:cNvSpPr/>
          <p:nvPr/>
        </p:nvSpPr>
        <p:spPr>
          <a:xfrm>
            <a:off x="457200" y="11887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" name="orch-text"/>
          <p:cNvSpPr txBox="1"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17"/>
                </a:solidFill>
              </a:rPr>
              <a:t>OrchestratorAgent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 ·  sequência, status de cada etapa, cache SQLite e tratamento de erros sem derrubar a aplicação</a:t>
            </a:r>
            <a:endParaRPr lang="en-US" sz="1300" dirty="0"/>
          </a:p>
        </p:txBody>
      </p:sp>
      <p:sp>
        <p:nvSpPr>
          <p:cNvPr id="5" name="agent-0"/>
          <p:cNvSpPr/>
          <p:nvPr/>
        </p:nvSpPr>
        <p:spPr>
          <a:xfrm>
            <a:off x="457200" y="2057400"/>
            <a:ext cx="1499616" cy="1508760"/>
          </a:xfrm>
          <a:prstGeom prst="roundRect">
            <a:avLst>
              <a:gd name="adj" fmla="val 4878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6" name="agent-n-0"/>
          <p:cNvSpPr txBox="1"/>
          <p:nvPr/>
        </p:nvSpPr>
        <p:spPr>
          <a:xfrm>
            <a:off x="566928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agent-h-0"/>
          <p:cNvSpPr txBox="1"/>
          <p:nvPr/>
        </p:nvSpPr>
        <p:spPr>
          <a:xfrm>
            <a:off x="566928" y="2514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DocumentAgent</a:t>
            </a:r>
            <a:endParaRPr lang="en-US" sz="1300" dirty="0"/>
          </a:p>
        </p:txBody>
      </p:sp>
      <p:sp>
        <p:nvSpPr>
          <p:cNvPr id="8" name="agent-d-0"/>
          <p:cNvSpPr txBox="1"/>
          <p:nvPr/>
        </p:nvSpPr>
        <p:spPr>
          <a:xfrm>
            <a:off x="566928" y="2926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333"/>
                </a:solidFill>
              </a:rPr>
              <a:t>PyMuPDF; OCR só como fallback</a:t>
            </a:r>
            <a:endParaRPr lang="en-US" sz="1100" dirty="0"/>
          </a:p>
        </p:txBody>
      </p:sp>
      <p:sp>
        <p:nvSpPr>
          <p:cNvPr id="9" name="agent-arrow-0"/>
          <p:cNvSpPr/>
          <p:nvPr/>
        </p:nvSpPr>
        <p:spPr>
          <a:xfrm>
            <a:off x="1956816" y="2807208"/>
            <a:ext cx="182880" cy="0"/>
          </a:xfrm>
          <a:prstGeom prst="line">
            <a:avLst/>
          </a:prstGeom>
          <a:noFill/>
          <a:ln w="15875">
            <a:solidFill>
              <a:srgbClr val="5C6B80"/>
            </a:solidFill>
            <a:prstDash val="solid"/>
            <a:tailEnd type="triangle"/>
          </a:ln>
        </p:spPr>
      </p:sp>
      <p:sp>
        <p:nvSpPr>
          <p:cNvPr id="10" name="agent-1"/>
          <p:cNvSpPr/>
          <p:nvPr/>
        </p:nvSpPr>
        <p:spPr>
          <a:xfrm>
            <a:off x="2139696" y="2057400"/>
            <a:ext cx="1499616" cy="1508760"/>
          </a:xfrm>
          <a:prstGeom prst="roundRect">
            <a:avLst>
              <a:gd name="adj" fmla="val 4878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agent-n-1"/>
          <p:cNvSpPr txBox="1"/>
          <p:nvPr/>
        </p:nvSpPr>
        <p:spPr>
          <a:xfrm>
            <a:off x="2249424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agent-h-1"/>
          <p:cNvSpPr txBox="1"/>
          <p:nvPr/>
        </p:nvSpPr>
        <p:spPr>
          <a:xfrm>
            <a:off x="2249424" y="2514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PolicyExtraction</a:t>
            </a:r>
            <a:endParaRPr lang="en-US" sz="1300" dirty="0"/>
          </a:p>
        </p:txBody>
      </p:sp>
      <p:sp>
        <p:nvSpPr>
          <p:cNvPr id="13" name="agent-d-1"/>
          <p:cNvSpPr txBox="1"/>
          <p:nvPr/>
        </p:nvSpPr>
        <p:spPr>
          <a:xfrm>
            <a:off x="2249424" y="2926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LLM → JSON com evidências</a:t>
            </a:r>
            <a:endParaRPr lang="en-US" sz="1100" dirty="0"/>
          </a:p>
        </p:txBody>
      </p:sp>
      <p:sp>
        <p:nvSpPr>
          <p:cNvPr id="14" name="agent-arrow-1"/>
          <p:cNvSpPr/>
          <p:nvPr/>
        </p:nvSpPr>
        <p:spPr>
          <a:xfrm>
            <a:off x="3639312" y="2807208"/>
            <a:ext cx="182880" cy="0"/>
          </a:xfrm>
          <a:prstGeom prst="line">
            <a:avLst/>
          </a:prstGeom>
          <a:noFill/>
          <a:ln w="15875">
            <a:solidFill>
              <a:srgbClr val="5C6B80"/>
            </a:solidFill>
            <a:prstDash val="solid"/>
            <a:tailEnd type="triangle"/>
          </a:ln>
        </p:spPr>
      </p:sp>
      <p:sp>
        <p:nvSpPr>
          <p:cNvPr id="15" name="agent-2"/>
          <p:cNvSpPr/>
          <p:nvPr/>
        </p:nvSpPr>
        <p:spPr>
          <a:xfrm>
            <a:off x="3822192" y="2057400"/>
            <a:ext cx="1499616" cy="1508760"/>
          </a:xfrm>
          <a:prstGeom prst="roundRect">
            <a:avLst>
              <a:gd name="adj" fmla="val 4878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6" name="agent-n-2"/>
          <p:cNvSpPr txBox="1"/>
          <p:nvPr/>
        </p:nvSpPr>
        <p:spPr>
          <a:xfrm>
            <a:off x="393192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agent-h-2"/>
          <p:cNvSpPr txBox="1"/>
          <p:nvPr/>
        </p:nvSpPr>
        <p:spPr>
          <a:xfrm>
            <a:off x="3931920" y="2514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Normalization</a:t>
            </a:r>
            <a:endParaRPr lang="en-US" sz="1300" dirty="0"/>
          </a:p>
        </p:txBody>
      </p:sp>
      <p:sp>
        <p:nvSpPr>
          <p:cNvPr id="18" name="agent-d-2"/>
          <p:cNvSpPr txBox="1"/>
          <p:nvPr/>
        </p:nvSpPr>
        <p:spPr>
          <a:xfrm>
            <a:off x="3931920" y="2926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333"/>
                </a:solidFill>
              </a:rPr>
              <a:t>Sinônimos, R$, datas</a:t>
            </a:r>
            <a:endParaRPr lang="en-US" sz="1100" dirty="0"/>
          </a:p>
        </p:txBody>
      </p:sp>
      <p:sp>
        <p:nvSpPr>
          <p:cNvPr id="19" name="agent-arrow-2"/>
          <p:cNvSpPr/>
          <p:nvPr/>
        </p:nvSpPr>
        <p:spPr>
          <a:xfrm>
            <a:off x="5321808" y="2807208"/>
            <a:ext cx="182880" cy="0"/>
          </a:xfrm>
          <a:prstGeom prst="line">
            <a:avLst/>
          </a:prstGeom>
          <a:noFill/>
          <a:ln w="15875">
            <a:solidFill>
              <a:srgbClr val="5C6B80"/>
            </a:solidFill>
            <a:prstDash val="solid"/>
            <a:tailEnd type="triangle"/>
          </a:ln>
        </p:spPr>
      </p:sp>
      <p:sp>
        <p:nvSpPr>
          <p:cNvPr id="20" name="agent-3"/>
          <p:cNvSpPr/>
          <p:nvPr/>
        </p:nvSpPr>
        <p:spPr>
          <a:xfrm>
            <a:off x="5504688" y="2057400"/>
            <a:ext cx="1499616" cy="1508760"/>
          </a:xfrm>
          <a:prstGeom prst="roundRect">
            <a:avLst>
              <a:gd name="adj" fmla="val 4878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1" name="agent-n-3"/>
          <p:cNvSpPr txBox="1"/>
          <p:nvPr/>
        </p:nvSpPr>
        <p:spPr>
          <a:xfrm>
            <a:off x="5614416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agent-h-3"/>
          <p:cNvSpPr txBox="1"/>
          <p:nvPr/>
        </p:nvSpPr>
        <p:spPr>
          <a:xfrm>
            <a:off x="5614416" y="2514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Comparison</a:t>
            </a:r>
            <a:endParaRPr lang="en-US" sz="1300" dirty="0"/>
          </a:p>
        </p:txBody>
      </p:sp>
      <p:sp>
        <p:nvSpPr>
          <p:cNvPr id="23" name="agent-d-3"/>
          <p:cNvSpPr txBox="1"/>
          <p:nvPr/>
        </p:nvSpPr>
        <p:spPr>
          <a:xfrm>
            <a:off x="5614416" y="2926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333"/>
                </a:solidFill>
              </a:rPr>
              <a:t>Diferenças determinísticas</a:t>
            </a:r>
            <a:endParaRPr lang="en-US" sz="1100" dirty="0"/>
          </a:p>
        </p:txBody>
      </p:sp>
      <p:sp>
        <p:nvSpPr>
          <p:cNvPr id="24" name="agent-arrow-3"/>
          <p:cNvSpPr/>
          <p:nvPr/>
        </p:nvSpPr>
        <p:spPr>
          <a:xfrm>
            <a:off x="7004304" y="2807208"/>
            <a:ext cx="182880" cy="0"/>
          </a:xfrm>
          <a:prstGeom prst="line">
            <a:avLst/>
          </a:prstGeom>
          <a:noFill/>
          <a:ln w="15875">
            <a:solidFill>
              <a:srgbClr val="5C6B80"/>
            </a:solidFill>
            <a:prstDash val="solid"/>
            <a:tailEnd type="triangle"/>
          </a:ln>
        </p:spPr>
      </p:sp>
      <p:sp>
        <p:nvSpPr>
          <p:cNvPr id="25" name="agent-4"/>
          <p:cNvSpPr/>
          <p:nvPr/>
        </p:nvSpPr>
        <p:spPr>
          <a:xfrm>
            <a:off x="7187184" y="2057400"/>
            <a:ext cx="1499616" cy="1508760"/>
          </a:xfrm>
          <a:prstGeom prst="roundRect">
            <a:avLst>
              <a:gd name="adj" fmla="val 4878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6" name="agent-n-4"/>
          <p:cNvSpPr txBox="1"/>
          <p:nvPr/>
        </p:nvSpPr>
        <p:spPr>
          <a:xfrm>
            <a:off x="7296912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agent-h-4"/>
          <p:cNvSpPr txBox="1"/>
          <p:nvPr/>
        </p:nvSpPr>
        <p:spPr>
          <a:xfrm>
            <a:off x="7296912" y="2514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Analysis</a:t>
            </a:r>
            <a:endParaRPr lang="en-US" sz="1300" dirty="0"/>
          </a:p>
        </p:txBody>
      </p:sp>
      <p:sp>
        <p:nvSpPr>
          <p:cNvPr id="28" name="agent-d-4"/>
          <p:cNvSpPr txBox="1"/>
          <p:nvPr/>
        </p:nvSpPr>
        <p:spPr>
          <a:xfrm>
            <a:off x="7296912" y="2926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LLM → síntese executiva</a:t>
            </a:r>
            <a:endParaRPr lang="en-US" sz="1100" dirty="0"/>
          </a:p>
        </p:txBody>
      </p:sp>
      <p:sp>
        <p:nvSpPr>
          <p:cNvPr id="29" name="legend-ia"/>
          <p:cNvSpPr/>
          <p:nvPr/>
        </p:nvSpPr>
        <p:spPr>
          <a:xfrm>
            <a:off x="457200" y="3931920"/>
            <a:ext cx="201168" cy="20116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0" name="legend-ia-t"/>
          <p:cNvSpPr txBox="1"/>
          <p:nvPr/>
        </p:nvSpPr>
        <p:spPr>
          <a:xfrm>
            <a:off x="777240" y="38587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Usa IA generativa (Groq · gpt-oss-120b, ou qualquer API compatível com OpenAI)</a:t>
            </a:r>
            <a:endParaRPr lang="en-US" sz="1200" dirty="0"/>
          </a:p>
        </p:txBody>
      </p:sp>
      <p:sp>
        <p:nvSpPr>
          <p:cNvPr id="31" name="legend-det"/>
          <p:cNvSpPr/>
          <p:nvPr/>
        </p:nvSpPr>
        <p:spPr>
          <a:xfrm>
            <a:off x="457200" y="4297680"/>
            <a:ext cx="201168" cy="201168"/>
          </a:xfrm>
          <a:prstGeom prst="rect">
            <a:avLst/>
          </a:prstGeom>
          <a:solidFill>
            <a:srgbClr val="EEF1F6"/>
          </a:solidFill>
          <a:ln w="6350">
            <a:solidFill>
              <a:srgbClr val="5C6B80"/>
            </a:solidFill>
            <a:prstDash val="solid"/>
          </a:ln>
        </p:spPr>
      </p:sp>
      <p:sp>
        <p:nvSpPr>
          <p:cNvPr id="32" name="legend-det-t"/>
          <p:cNvSpPr txBox="1"/>
          <p:nvPr/>
        </p:nvSpPr>
        <p:spPr>
          <a:xfrm>
            <a:off x="777240" y="42245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Determinístico: rápido, reproduzível e coberto por testes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IA generativa com guardrails contra alucinação</a:t>
            </a:r>
            <a:endParaRPr lang="en-US" sz="2600" dirty="0"/>
          </a:p>
        </p:txBody>
      </p:sp>
      <p:sp>
        <p:nvSpPr>
          <p:cNvPr id="3" name="guard-card-0"/>
          <p:cNvSpPr/>
          <p:nvPr/>
        </p:nvSpPr>
        <p:spPr>
          <a:xfrm>
            <a:off x="457200" y="118872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4" name="guard-0-circle"/>
          <p:cNvSpPr/>
          <p:nvPr/>
        </p:nvSpPr>
        <p:spPr>
          <a:xfrm>
            <a:off x="621792" y="1389888"/>
            <a:ext cx="603504" cy="60350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5" name="guard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" y="1540764"/>
            <a:ext cx="301752" cy="301752"/>
          </a:xfrm>
          <a:prstGeom prst="rect">
            <a:avLst/>
          </a:prstGeom>
        </p:spPr>
      </p:pic>
      <p:sp>
        <p:nvSpPr>
          <p:cNvPr id="6" name="guard-h-0"/>
          <p:cNvSpPr txBox="1"/>
          <p:nvPr/>
        </p:nvSpPr>
        <p:spPr>
          <a:xfrm>
            <a:off x="1371600" y="12801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Evidência obrigatória</a:t>
            </a:r>
            <a:endParaRPr lang="en-US" sz="1400" dirty="0"/>
          </a:p>
        </p:txBody>
      </p:sp>
      <p:sp>
        <p:nvSpPr>
          <p:cNvPr id="7" name="guard-t-0"/>
          <p:cNvSpPr txBox="1"/>
          <p:nvPr/>
        </p:nvSpPr>
        <p:spPr>
          <a:xfrm>
            <a:off x="1371600" y="16002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Cada valor vem com página e trecho. Se o trecho não existe no PDF, o valor é descartado</a:t>
            </a:r>
            <a:endParaRPr lang="en-US" sz="1100" dirty="0"/>
          </a:p>
        </p:txBody>
      </p:sp>
      <p:sp>
        <p:nvSpPr>
          <p:cNvPr id="8" name="guard-card-1"/>
          <p:cNvSpPr/>
          <p:nvPr/>
        </p:nvSpPr>
        <p:spPr>
          <a:xfrm>
            <a:off x="4663440" y="118872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9" name="guard-1-circle"/>
          <p:cNvSpPr/>
          <p:nvPr/>
        </p:nvSpPr>
        <p:spPr>
          <a:xfrm>
            <a:off x="4828032" y="1389888"/>
            <a:ext cx="603504" cy="6035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10" name="guard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908" y="1540764"/>
            <a:ext cx="301752" cy="301752"/>
          </a:xfrm>
          <a:prstGeom prst="rect">
            <a:avLst/>
          </a:prstGeom>
        </p:spPr>
      </p:pic>
      <p:sp>
        <p:nvSpPr>
          <p:cNvPr id="11" name="guard-h-1"/>
          <p:cNvSpPr txBox="1"/>
          <p:nvPr/>
        </p:nvSpPr>
        <p:spPr>
          <a:xfrm>
            <a:off x="5577840" y="12801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Ausente = null</a:t>
            </a:r>
            <a:endParaRPr lang="en-US" sz="1400" dirty="0"/>
          </a:p>
        </p:txBody>
      </p:sp>
      <p:sp>
        <p:nvSpPr>
          <p:cNvPr id="12" name="guard-t-1"/>
          <p:cNvSpPr txBox="1"/>
          <p:nvPr/>
        </p:nvSpPr>
        <p:spPr>
          <a:xfrm>
            <a:off x="5577840" y="16002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Campo não encontrado fica "não identificado", nunca estimado</a:t>
            </a:r>
            <a:endParaRPr lang="en-US" sz="1100" dirty="0"/>
          </a:p>
        </p:txBody>
      </p:sp>
      <p:sp>
        <p:nvSpPr>
          <p:cNvPr id="13" name="guard-card-2"/>
          <p:cNvSpPr/>
          <p:nvPr/>
        </p:nvSpPr>
        <p:spPr>
          <a:xfrm>
            <a:off x="457200" y="233172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4" name="guard-2-circle"/>
          <p:cNvSpPr/>
          <p:nvPr/>
        </p:nvSpPr>
        <p:spPr>
          <a:xfrm>
            <a:off x="621792" y="2532888"/>
            <a:ext cx="603504" cy="60350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5" name="guard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2683764"/>
            <a:ext cx="301752" cy="301752"/>
          </a:xfrm>
          <a:prstGeom prst="rect">
            <a:avLst/>
          </a:prstGeom>
        </p:spPr>
      </p:pic>
      <p:sp>
        <p:nvSpPr>
          <p:cNvPr id="16" name="guard-h-2"/>
          <p:cNvSpPr txBox="1"/>
          <p:nvPr/>
        </p:nvSpPr>
        <p:spPr>
          <a:xfrm>
            <a:off x="1371600" y="24231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Sem base de comparação</a:t>
            </a:r>
            <a:endParaRPr lang="en-US" sz="1400" dirty="0"/>
          </a:p>
        </p:txBody>
      </p:sp>
      <p:sp>
        <p:nvSpPr>
          <p:cNvPr id="17" name="guard-t-2"/>
          <p:cNvSpPr txBox="1"/>
          <p:nvPr/>
        </p:nvSpPr>
        <p:spPr>
          <a:xfrm>
            <a:off x="1371600" y="27432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Se um documento não traz a lista, nada é marcado como adicionado ou removido</a:t>
            </a:r>
            <a:endParaRPr lang="en-US" sz="1100" dirty="0"/>
          </a:p>
        </p:txBody>
      </p:sp>
      <p:sp>
        <p:nvSpPr>
          <p:cNvPr id="18" name="guard-card-3"/>
          <p:cNvSpPr/>
          <p:nvPr/>
        </p:nvSpPr>
        <p:spPr>
          <a:xfrm>
            <a:off x="4663440" y="233172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9" name="guard-3-circle"/>
          <p:cNvSpPr/>
          <p:nvPr/>
        </p:nvSpPr>
        <p:spPr>
          <a:xfrm>
            <a:off x="4828032" y="2532888"/>
            <a:ext cx="603504" cy="6035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20" name="guard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908" y="2683764"/>
            <a:ext cx="301752" cy="301752"/>
          </a:xfrm>
          <a:prstGeom prst="rect">
            <a:avLst/>
          </a:prstGeom>
        </p:spPr>
      </p:pic>
      <p:sp>
        <p:nvSpPr>
          <p:cNvPr id="21" name="guard-h-3"/>
          <p:cNvSpPr txBox="1"/>
          <p:nvPr/>
        </p:nvSpPr>
        <p:spPr>
          <a:xfrm>
            <a:off x="5577840" y="24231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Nunca finge IA</a:t>
            </a:r>
            <a:endParaRPr lang="en-US" sz="1400" dirty="0"/>
          </a:p>
        </p:txBody>
      </p:sp>
      <p:sp>
        <p:nvSpPr>
          <p:cNvPr id="22" name="guard-t-3"/>
          <p:cNvSpPr txBox="1"/>
          <p:nvPr/>
        </p:nvSpPr>
        <p:spPr>
          <a:xfrm>
            <a:off x="5577840" y="27432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Se a IA cai, a interface mostra "Regras (SEM IA)" e o motivo do erro</a:t>
            </a:r>
            <a:endParaRPr lang="en-US" sz="1100" dirty="0"/>
          </a:p>
        </p:txBody>
      </p:sp>
      <p:sp>
        <p:nvSpPr>
          <p:cNvPr id="23" name="guard-card-4"/>
          <p:cNvSpPr/>
          <p:nvPr/>
        </p:nvSpPr>
        <p:spPr>
          <a:xfrm>
            <a:off x="457200" y="347472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4" name="guard-4-circle"/>
          <p:cNvSpPr/>
          <p:nvPr/>
        </p:nvSpPr>
        <p:spPr>
          <a:xfrm>
            <a:off x="621792" y="3675888"/>
            <a:ext cx="603504" cy="60350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25" name="guard-4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" y="3826764"/>
            <a:ext cx="301752" cy="301752"/>
          </a:xfrm>
          <a:prstGeom prst="rect">
            <a:avLst/>
          </a:prstGeom>
        </p:spPr>
      </p:pic>
      <p:sp>
        <p:nvSpPr>
          <p:cNvPr id="26" name="guard-h-4"/>
          <p:cNvSpPr txBox="1"/>
          <p:nvPr/>
        </p:nvSpPr>
        <p:spPr>
          <a:xfrm>
            <a:off x="1371600" y="35661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Limites do provedor</a:t>
            </a:r>
            <a:endParaRPr lang="en-US" sz="1400" dirty="0"/>
          </a:p>
        </p:txBody>
      </p:sp>
      <p:sp>
        <p:nvSpPr>
          <p:cNvPr id="27" name="guard-t-4"/>
          <p:cNvSpPr txBox="1"/>
          <p:nvPr/>
        </p:nvSpPr>
        <p:spPr>
          <a:xfrm>
            <a:off x="1371600" y="38862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Espera automática no erro 429 e envio só das páginas críticas</a:t>
            </a:r>
            <a:endParaRPr lang="en-US" sz="1100" dirty="0"/>
          </a:p>
        </p:txBody>
      </p:sp>
      <p:sp>
        <p:nvSpPr>
          <p:cNvPr id="28" name="guard-card-5"/>
          <p:cNvSpPr/>
          <p:nvPr/>
        </p:nvSpPr>
        <p:spPr>
          <a:xfrm>
            <a:off x="4663440" y="347472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9" name="guard-5-circle"/>
          <p:cNvSpPr/>
          <p:nvPr/>
        </p:nvSpPr>
        <p:spPr>
          <a:xfrm>
            <a:off x="4828032" y="3675888"/>
            <a:ext cx="603504" cy="6035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30" name="guard-5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8908" y="3826764"/>
            <a:ext cx="301752" cy="301752"/>
          </a:xfrm>
          <a:prstGeom prst="rect">
            <a:avLst/>
          </a:prstGeom>
        </p:spPr>
      </p:pic>
      <p:sp>
        <p:nvSpPr>
          <p:cNvPr id="31" name="guard-h-5"/>
          <p:cNvSpPr txBox="1"/>
          <p:nvPr/>
        </p:nvSpPr>
        <p:spPr>
          <a:xfrm>
            <a:off x="5577840" y="35661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Ressalva acadêmica</a:t>
            </a:r>
            <a:endParaRPr lang="en-US" sz="1400" dirty="0"/>
          </a:p>
        </p:txBody>
      </p:sp>
      <p:sp>
        <p:nvSpPr>
          <p:cNvPr id="32" name="guard-t-5"/>
          <p:cNvSpPr txBox="1"/>
          <p:nvPr/>
        </p:nvSpPr>
        <p:spPr>
          <a:xfrm>
            <a:off x="5577840" y="38862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Não afirma que uma apólice é "melhor"; não substitui corretor nem parecer jurídico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Caso real: renovação da Tokio Marine para a AXA</a:t>
            </a:r>
            <a:endParaRPr lang="en-US" sz="2600" dirty="0"/>
          </a:p>
        </p:txBody>
      </p:sp>
      <p:sp>
        <p:nvSpPr>
          <p:cNvPr id="3" name="case-sub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Mesmo segurado (indústria de Itu/SP), vigências consecutivas: 2024–2025 e 2025–2026</a:t>
            </a:r>
            <a:endParaRPr lang="en-US" sz="1300" dirty="0"/>
          </a:p>
        </p:txBody>
      </p:sp>
      <p:sp>
        <p:nvSpPr>
          <p:cNvPr id="4" name="stat-card"/>
          <p:cNvSpPr/>
          <p:nvPr/>
        </p:nvSpPr>
        <p:spPr>
          <a:xfrm>
            <a:off x="457200" y="1463040"/>
            <a:ext cx="3931920" cy="3063240"/>
          </a:xfrm>
          <a:prstGeom prst="roundRect">
            <a:avLst>
              <a:gd name="adj" fmla="val 2388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stat-big"/>
          <p:cNvSpPr txBox="1"/>
          <p:nvPr/>
        </p:nvSpPr>
        <p:spPr>
          <a:xfrm>
            <a:off x="685800" y="16459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−48,8%</a:t>
            </a:r>
            <a:endParaRPr lang="en-US" sz="6400" dirty="0"/>
          </a:p>
        </p:txBody>
      </p:sp>
      <p:sp>
        <p:nvSpPr>
          <p:cNvPr id="6" name="stat-label"/>
          <p:cNvSpPr txBox="1"/>
          <p:nvPr/>
        </p:nvSpPr>
        <p:spPr>
          <a:xfrm>
            <a:off x="685800" y="2651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no prêmio total</a:t>
            </a:r>
            <a:endParaRPr lang="en-US" sz="1800" dirty="0"/>
          </a:p>
        </p:txBody>
      </p:sp>
      <p:sp>
        <p:nvSpPr>
          <p:cNvPr id="7" name="stat-values"/>
          <p:cNvSpPr txBox="1"/>
          <p:nvPr/>
        </p:nvSpPr>
        <p:spPr>
          <a:xfrm>
            <a:off x="685800" y="3246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R$ 10.880,98  →  R$ 5.571,59</a:t>
            </a:r>
            <a:endParaRPr lang="en-US" sz="1800" dirty="0"/>
          </a:p>
        </p:txBody>
      </p:sp>
      <p:sp>
        <p:nvSpPr>
          <p:cNvPr id="8" name="stat-note"/>
          <p:cNvSpPr txBox="1"/>
          <p:nvPr/>
        </p:nvSpPr>
        <p:spPr>
          <a:xfrm>
            <a:off x="685800" y="3749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3BF"/>
                </a:solidFill>
              </a:rPr>
              <a:t>Prêmio líquido e IOF caíram na mesma proporção</a:t>
            </a:r>
            <a:endParaRPr lang="en-US" sz="1200" dirty="0"/>
          </a:p>
        </p:txBody>
      </p:sp>
      <p:sp>
        <p:nvSpPr>
          <p:cNvPr id="9" name="fact-dot-0"/>
          <p:cNvSpPr/>
          <p:nvPr/>
        </p:nvSpPr>
        <p:spPr>
          <a:xfrm>
            <a:off x="4663440" y="1554480"/>
            <a:ext cx="274320" cy="2743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fact-h-0"/>
          <p:cNvSpPr txBox="1"/>
          <p:nvPr/>
        </p:nvSpPr>
        <p:spPr>
          <a:xfrm>
            <a:off x="507492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Identificado só na AXA</a:t>
            </a:r>
            <a:endParaRPr lang="en-US" sz="1400" dirty="0"/>
          </a:p>
        </p:txBody>
      </p:sp>
      <p:sp>
        <p:nvSpPr>
          <p:cNvPr id="11" name="fact-t-0"/>
          <p:cNvSpPr txBox="1"/>
          <p:nvPr/>
        </p:nvSpPr>
        <p:spPr>
          <a:xfrm>
            <a:off x="5074920" y="18288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LMG de R$ 5.000.000,00, "não há aplicação de franquia", retroatividade ilimitada, âmbito mundial exceto EUA/Canadá</a:t>
            </a:r>
            <a:endParaRPr lang="en-US" sz="1200" dirty="0"/>
          </a:p>
        </p:txBody>
      </p:sp>
      <p:sp>
        <p:nvSpPr>
          <p:cNvPr id="12" name="fact-dot-1"/>
          <p:cNvSpPr/>
          <p:nvPr/>
        </p:nvSpPr>
        <p:spPr>
          <a:xfrm>
            <a:off x="4663440" y="2606040"/>
            <a:ext cx="274320" cy="27432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3" name="fact-h-1"/>
          <p:cNvSpPr txBox="1"/>
          <p:nvPr/>
        </p:nvSpPr>
        <p:spPr>
          <a:xfrm>
            <a:off x="5074920" y="25146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Ponto de atenção</a:t>
            </a:r>
            <a:endParaRPr lang="en-US" sz="1400" dirty="0"/>
          </a:p>
        </p:txBody>
      </p:sp>
      <p:sp>
        <p:nvSpPr>
          <p:cNvPr id="14" name="fact-t-1"/>
          <p:cNvSpPr txBox="1"/>
          <p:nvPr/>
        </p:nvSpPr>
        <p:spPr>
          <a:xfrm>
            <a:off x="5074920" y="288036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 arquivo da Tokio Marine traz só o frontispício: 40 itens de cobertura da AXA ficam "sem base de comparação"</a:t>
            </a:r>
            <a:endParaRPr lang="en-US" sz="1200" dirty="0"/>
          </a:p>
        </p:txBody>
      </p:sp>
      <p:sp>
        <p:nvSpPr>
          <p:cNvPr id="15" name="fact-dot-2"/>
          <p:cNvSpPr/>
          <p:nvPr/>
        </p:nvSpPr>
        <p:spPr>
          <a:xfrm>
            <a:off x="4663440" y="3657600"/>
            <a:ext cx="274320" cy="2743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6" name="fact-h-2"/>
          <p:cNvSpPr txBox="1"/>
          <p:nvPr/>
        </p:nvSpPr>
        <p:spPr>
          <a:xfrm>
            <a:off x="5074920" y="35661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Conclusão honesta</a:t>
            </a:r>
            <a:endParaRPr lang="en-US" sz="1400" dirty="0"/>
          </a:p>
        </p:txBody>
      </p:sp>
      <p:sp>
        <p:nvSpPr>
          <p:cNvPr id="17" name="fact-t-2"/>
          <p:cNvSpPr txBox="1"/>
          <p:nvPr/>
        </p:nvSpPr>
        <p:spPr>
          <a:xfrm>
            <a:off x="5074920" y="393192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 sistema confirma a redução de custo, mas não afirma ganho ou perda de cobertura sem o documento completo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Demonstração: os 5 agentes em ação</a:t>
            </a:r>
            <a:endParaRPr lang="en-US" sz="2600" dirty="0"/>
          </a:p>
        </p:txBody>
      </p:sp>
      <p:pic>
        <p:nvPicPr>
          <p:cNvPr id="3" name="shot-etapas" descr="etapas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8229600" cy="2208679"/>
          </a:xfrm>
          <a:prstGeom prst="rect">
            <a:avLst/>
          </a:prstGeom>
        </p:spPr>
      </p:pic>
      <p:sp>
        <p:nvSpPr>
          <p:cNvPr id="4" name="cap-1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Interface Streamlit: status e tempo de cada agente na execução com IA (Groq · gpt-oss-120b)</a:t>
            </a:r>
            <a:endParaRPr lang="en-US" sz="1000" dirty="0"/>
          </a:p>
        </p:txBody>
      </p:sp>
      <p:sp>
        <p:nvSpPr>
          <p:cNvPr id="5" name="demo-0"/>
          <p:cNvSpPr txBox="1"/>
          <p:nvPr/>
        </p:nvSpPr>
        <p:spPr>
          <a:xfrm>
            <a:off x="457200" y="3611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Abas: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Dados Gerais · Limites · Prêmio · Franquias · Coberturas · Extensões · Exclusões · Pontos de Atenção</a:t>
            </a:r>
            <a:endParaRPr lang="en-US" sz="1300" dirty="0"/>
          </a:p>
        </p:txBody>
      </p:sp>
      <p:sp>
        <p:nvSpPr>
          <p:cNvPr id="6" name="demo-1"/>
          <p:cNvSpPr txBox="1"/>
          <p:nvPr/>
        </p:nvSpPr>
        <p:spPr>
          <a:xfrm>
            <a:off x="457200" y="3977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Fonte: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Página e trecho do PDF ao lado de cada valor comparado</a:t>
            </a:r>
            <a:endParaRPr lang="en-US" sz="1300" dirty="0"/>
          </a:p>
        </p:txBody>
      </p:sp>
      <p:sp>
        <p:nvSpPr>
          <p:cNvPr id="7" name="demo-2"/>
          <p:cNvSpPr txBox="1"/>
          <p:nvPr/>
        </p:nvSpPr>
        <p:spPr>
          <a:xfrm>
            <a:off x="457200" y="4343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Transparência: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JSON extraído e log do orquestrador disponíveis para download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Síntese executiva escrita pela IA</a:t>
            </a:r>
            <a:endParaRPr lang="en-US" sz="2600" dirty="0"/>
          </a:p>
        </p:txBody>
      </p:sp>
      <p:pic>
        <p:nvPicPr>
          <p:cNvPr id="3" name="shot-sintese" descr="sintese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5669280" cy="2276142"/>
          </a:xfrm>
          <a:prstGeom prst="rect">
            <a:avLst/>
          </a:prstGeom>
        </p:spPr>
      </p:pic>
      <p:sp>
        <p:nvSpPr>
          <p:cNvPr id="4" name="cap-sintese"/>
          <p:cNvSpPr txBox="1"/>
          <p:nvPr/>
        </p:nvSpPr>
        <p:spPr>
          <a:xfrm>
            <a:off x="457200" y="33375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Tela real da execução com Groq · gpt-oss-120b</a:t>
            </a:r>
            <a:endParaRPr lang="en-US" sz="1000" dirty="0"/>
          </a:p>
        </p:txBody>
      </p:sp>
      <p:sp>
        <p:nvSpPr>
          <p:cNvPr id="5" name="obs-dot-0"/>
          <p:cNvSpPr/>
          <p:nvPr/>
        </p:nvSpPr>
        <p:spPr>
          <a:xfrm>
            <a:off x="6355080" y="1115568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obs-h-0"/>
          <p:cNvSpPr txBox="1"/>
          <p:nvPr/>
        </p:nvSpPr>
        <p:spPr>
          <a:xfrm>
            <a:off x="6675120" y="1051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Ganhos comprovados</a:t>
            </a:r>
            <a:endParaRPr lang="en-US" sz="1300" dirty="0"/>
          </a:p>
        </p:txBody>
      </p:sp>
      <p:sp>
        <p:nvSpPr>
          <p:cNvPr id="7" name="obs-t-0"/>
          <p:cNvSpPr txBox="1"/>
          <p:nvPr/>
        </p:nvSpPr>
        <p:spPr>
          <a:xfrm>
            <a:off x="6675120" y="13990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Apenas as reduções de prêmio e IOF, que constam nas duas apólices</a:t>
            </a:r>
            <a:endParaRPr lang="en-US" sz="1100" dirty="0"/>
          </a:p>
        </p:txBody>
      </p:sp>
      <p:sp>
        <p:nvSpPr>
          <p:cNvPr id="8" name="obs-dot-1"/>
          <p:cNvSpPr/>
          <p:nvPr/>
        </p:nvSpPr>
        <p:spPr>
          <a:xfrm>
            <a:off x="6355080" y="2048256"/>
            <a:ext cx="237744" cy="237744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9" name="obs-h-1"/>
          <p:cNvSpPr txBox="1"/>
          <p:nvPr/>
        </p:nvSpPr>
        <p:spPr>
          <a:xfrm>
            <a:off x="6675120" y="19842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Ausências declaradas</a:t>
            </a:r>
            <a:endParaRPr lang="en-US" sz="1300" dirty="0"/>
          </a:p>
        </p:txBody>
      </p:sp>
      <p:sp>
        <p:nvSpPr>
          <p:cNvPr id="10" name="obs-t-1"/>
          <p:cNvSpPr txBox="1"/>
          <p:nvPr/>
        </p:nvSpPr>
        <p:spPr>
          <a:xfrm>
            <a:off x="6675120" y="2331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"Não há informações sobre LMG ou franquia na apólice A"</a:t>
            </a:r>
            <a:endParaRPr lang="en-US" sz="1100" dirty="0"/>
          </a:p>
        </p:txBody>
      </p:sp>
      <p:sp>
        <p:nvSpPr>
          <p:cNvPr id="11" name="obs-dot-2"/>
          <p:cNvSpPr/>
          <p:nvPr/>
        </p:nvSpPr>
        <p:spPr>
          <a:xfrm>
            <a:off x="6355080" y="2980944"/>
            <a:ext cx="237744" cy="23774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2" name="obs-h-2"/>
          <p:cNvSpPr txBox="1"/>
          <p:nvPr/>
        </p:nvSpPr>
        <p:spPr>
          <a:xfrm>
            <a:off x="6675120" y="29169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Ressalva sempre presente</a:t>
            </a:r>
            <a:endParaRPr lang="en-US" sz="1300" dirty="0"/>
          </a:p>
        </p:txBody>
      </p:sp>
      <p:sp>
        <p:nvSpPr>
          <p:cNvPr id="13" name="obs-t-2"/>
          <p:cNvSpPr txBox="1"/>
          <p:nvPr/>
        </p:nvSpPr>
        <p:spPr>
          <a:xfrm>
            <a:off x="6675120" y="326440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Inserida pelo código, não depende do modelo</a:t>
            </a:r>
            <a:endParaRPr lang="en-US" sz="1100" dirty="0"/>
          </a:p>
        </p:txBody>
      </p:sp>
      <p:sp>
        <p:nvSpPr>
          <p:cNvPr id="14" name="sintese-result"/>
          <p:cNvSpPr txBox="1"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553D"/>
                </a:solidFill>
              </a:rPr>
              <a:t>Resultado: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IA explica a mudança de custo sem afirmar ganho de cobertura que os documentos não comprovam.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Resultados técnicos da validação</a:t>
            </a:r>
            <a:endParaRPr lang="en-US" sz="2600" dirty="0"/>
          </a:p>
        </p:txBody>
      </p:sp>
      <p:graphicFrame>
        <p:nvGraphicFramePr>
          <p:cNvPr id="3" name="chart-times" descr=""/>
          <p:cNvGraphicFramePr/>
          <p:nvPr/>
        </p:nvGraphicFramePr>
        <p:xfrm>
          <a:off x="457200" y="1097280"/>
          <a:ext cx="47548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hart-note"/>
          <p:cNvSpPr txBox="1"/>
          <p:nvPr/>
        </p:nvSpPr>
        <p:spPr>
          <a:xfrm>
            <a:off x="457200" y="4434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* inclui a espera automática pelo limite por minuto do plano gratuito</a:t>
            </a:r>
            <a:endParaRPr lang="en-US" sz="1000" dirty="0"/>
          </a:p>
        </p:txBody>
      </p:sp>
      <p:sp>
        <p:nvSpPr>
          <p:cNvPr id="5" name="kpi-0"/>
          <p:cNvSpPr/>
          <p:nvPr/>
        </p:nvSpPr>
        <p:spPr>
          <a:xfrm>
            <a:off x="5486400" y="114300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6" name="kpi-n-0"/>
          <p:cNvSpPr txBox="1"/>
          <p:nvPr/>
        </p:nvSpPr>
        <p:spPr>
          <a:xfrm>
            <a:off x="5669280" y="11430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5/5</a:t>
            </a:r>
            <a:endParaRPr lang="en-US" sz="3000" dirty="0"/>
          </a:p>
        </p:txBody>
      </p:sp>
      <p:sp>
        <p:nvSpPr>
          <p:cNvPr id="7" name="kpi-l-0"/>
          <p:cNvSpPr txBox="1"/>
          <p:nvPr/>
        </p:nvSpPr>
        <p:spPr>
          <a:xfrm>
            <a:off x="7040880" y="114300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agentes concluídos com IA</a:t>
            </a:r>
            <a:endParaRPr lang="en-US" sz="1300" dirty="0"/>
          </a:p>
        </p:txBody>
      </p:sp>
      <p:sp>
        <p:nvSpPr>
          <p:cNvPr id="8" name="kpi-1"/>
          <p:cNvSpPr/>
          <p:nvPr/>
        </p:nvSpPr>
        <p:spPr>
          <a:xfrm>
            <a:off x="5486400" y="2258568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9" name="kpi-n-1"/>
          <p:cNvSpPr txBox="1"/>
          <p:nvPr/>
        </p:nvSpPr>
        <p:spPr>
          <a:xfrm>
            <a:off x="5669280" y="2258568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3000" dirty="0"/>
          </a:p>
        </p:txBody>
      </p:sp>
      <p:sp>
        <p:nvSpPr>
          <p:cNvPr id="10" name="kpi-l-1"/>
          <p:cNvSpPr txBox="1"/>
          <p:nvPr/>
        </p:nvSpPr>
        <p:spPr>
          <a:xfrm>
            <a:off x="7040880" y="2258568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testes automatizados passando</a:t>
            </a:r>
            <a:endParaRPr lang="en-US" sz="1300" dirty="0"/>
          </a:p>
        </p:txBody>
      </p:sp>
      <p:sp>
        <p:nvSpPr>
          <p:cNvPr id="11" name="kpi-2"/>
          <p:cNvSpPr/>
          <p:nvPr/>
        </p:nvSpPr>
        <p:spPr>
          <a:xfrm>
            <a:off x="5486400" y="3374136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2" name="kpi-n-2"/>
          <p:cNvSpPr txBox="1"/>
          <p:nvPr/>
        </p:nvSpPr>
        <p:spPr>
          <a:xfrm>
            <a:off x="5669280" y="3374136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30 s</a:t>
            </a:r>
            <a:endParaRPr lang="en-US" sz="3000" dirty="0"/>
          </a:p>
        </p:txBody>
      </p:sp>
      <p:sp>
        <p:nvSpPr>
          <p:cNvPr id="13" name="kpi-l-2"/>
          <p:cNvSpPr txBox="1"/>
          <p:nvPr/>
        </p:nvSpPr>
        <p:spPr>
          <a:xfrm>
            <a:off x="7040880" y="3374136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do upload à síntese executiva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O que a validação real nos ensinou</a:t>
            </a:r>
            <a:endParaRPr lang="en-US" sz="2600" dirty="0"/>
          </a:p>
        </p:txBody>
      </p:sp>
      <p:graphicFrame>
        <p:nvGraphicFramePr>
          <p:cNvPr id="11" name="lesson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Problema observado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Solução adotada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Pedido de 8.189 tokens excedeu o limite gratuito do Groq (8.000/min)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Compactação de espaços e envio só das páginas críticas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página da franquia podia ser cortada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Prioridade para páginas com LMG, franquia e tabelas "% do LMI"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IA listou como "ganho" um dado ausente na outra apólice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Regra: dado de um só lado vai para "pontos de atenção"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"R$ … R$" exibido como fórmula matemática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Escape do cifrão nos textos gerados pela 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Limitações conhecidas e evolução</a:t>
            </a:r>
            <a:endParaRPr lang="en-US" sz="2600" dirty="0"/>
          </a:p>
        </p:txBody>
      </p:sp>
      <p:sp>
        <p:nvSpPr>
          <p:cNvPr id="3" name="lim-card"/>
          <p:cNvSpPr/>
          <p:nvPr/>
        </p:nvSpPr>
        <p:spPr>
          <a:xfrm>
            <a:off x="457200" y="1143000"/>
            <a:ext cx="3977640" cy="3429000"/>
          </a:xfrm>
          <a:prstGeom prst="roundRect">
            <a:avLst>
              <a:gd name="adj" fmla="val 21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4" name="lim-h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</a:t>
            </a:r>
            <a:endParaRPr lang="en-US" sz="1800" dirty="0"/>
          </a:p>
        </p:txBody>
      </p:sp>
      <p:sp>
        <p:nvSpPr>
          <p:cNvPr id="5" name="lim-list"/>
          <p:cNvSpPr txBox="1"/>
          <p:nvPr/>
        </p:nvSpPr>
        <p:spPr>
          <a:xfrm>
            <a:off x="685800" y="173736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Apólice Tokio Marine incompleta (só frontispício)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Plano gratuito limita o texto enviado à IA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Dicionário de sinônimos cobre os termos D&amp;O mais comuns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OCR depende da qualidade da digitalização</a:t>
            </a:r>
            <a:endParaRPr lang="en-US" sz="1400" dirty="0"/>
          </a:p>
        </p:txBody>
      </p:sp>
      <p:sp>
        <p:nvSpPr>
          <p:cNvPr id="6" name="fut-card"/>
          <p:cNvSpPr/>
          <p:nvPr/>
        </p:nvSpPr>
        <p:spPr>
          <a:xfrm>
            <a:off x="4709160" y="1143000"/>
            <a:ext cx="3977640" cy="3429000"/>
          </a:xfrm>
          <a:prstGeom prst="roundRect">
            <a:avLst>
              <a:gd name="adj" fmla="val 21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7" name="fut-h"/>
          <p:cNvSpPr txBox="1"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1800" dirty="0"/>
          </a:p>
        </p:txBody>
      </p:sp>
      <p:sp>
        <p:nvSpPr>
          <p:cNvPr id="8" name="fut-list"/>
          <p:cNvSpPr txBox="1"/>
          <p:nvPr/>
        </p:nvSpPr>
        <p:spPr>
          <a:xfrm>
            <a:off x="4937760" y="173736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RAG sobre as Condições Gerais (processo SUSEP)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Chat com as apólices, citando a página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Comparar N cotações com ranking por critérios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Modelos locais para dados sensíveis (LGPD)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Obrigado!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Python · Streamlit · PyMuPDF · Tesseract · Groq/OpenAI API · Pydantic · SQLite · Pytest</a:t>
            </a:r>
            <a:endParaRPr lang="en-US" sz="1800" dirty="0"/>
          </a:p>
        </p:txBody>
      </p:sp>
      <p:sp>
        <p:nvSpPr>
          <p:cNvPr id="4" name="team-end"/>
          <p:cNvSpPr txBox="1"/>
          <p:nvPr/>
        </p:nvSpPr>
        <p:spPr>
          <a:xfrm>
            <a:off x="548640" y="3931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Márcio de la Cruz Lui  ·  Mauro José de Oliveira  ·  Pedro Antônio Franceschini</a:t>
            </a:r>
            <a:endParaRPr lang="en-US" sz="1200" dirty="0"/>
          </a:p>
        </p:txBody>
      </p:sp>
      <p:sp>
        <p:nvSpPr>
          <p:cNvPr id="5" name="disclaimer"/>
          <p:cNvSpPr txBox="1"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A317"/>
                </a:solidFill>
              </a:rPr>
              <a:t>Projeto acadêmico: não substitui corretor de seguros, seguradora ou parecer jurídico.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licyMind">
  <a:themeElements>
    <a:clrScheme name="PolicyMind">
      <a:dk1>
        <a:srgbClr val="1B2333"/>
      </a:dk1>
      <a:lt1>
        <a:srgbClr val="FFFFFF"/>
      </a:lt1>
      <a:dk2>
        <a:srgbClr val="14213D"/>
      </a:dk2>
      <a:lt2>
        <a:srgbClr val="EEF1F6"/>
      </a:lt2>
      <a:accent1>
        <a:srgbClr val="14213D"/>
      </a:accent1>
      <a:accent2>
        <a:srgbClr val="E8A317"/>
      </a:accent2>
      <a:accent3>
        <a:srgbClr val="2A9D8F"/>
      </a:accent3>
      <a:accent4>
        <a:srgbClr val="C8553D"/>
      </a:accent4>
      <a:accent5>
        <a:srgbClr val="5C6B80"/>
      </a:accent5>
      <a:accent6>
        <a:srgbClr val="8EA3BF"/>
      </a:accent6>
      <a:hlink>
        <a:srgbClr val="2A9D8F"/>
      </a:hlink>
      <a:folHlink>
        <a:srgbClr val="5C6B80"/>
      </a:folHlink>
    </a:clrScheme>
    <a:fontScheme name="PolicyMin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InsurMinds / I2A2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PolicyMind D&amp;O — Pitch Deck</dc:title>
  <dc:subject>PptxGenJS Presentation</dc:subject>
  <dc:creator>Márcio de la Cruz Lui, Mauro José de Oliveira, Pedro Antônio Franceschini</dc:creator>
  <cp:lastModifiedBy>Márcio de la Cruz Lui, Mauro José de Oliveira, Pedro Antônio Franceschini</cp:lastModifiedBy>
  <cp:revision>1</cp:revision>
  <dcterms:created xsi:type="dcterms:W3CDTF">2026-10-05T20:53:51Z</dcterms:created>
  <dcterms:modified xsi:type="dcterms:W3CDTF">2026-10-05T20:53:51Z</dcterms:modified>
</cp:coreProperties>
</file>